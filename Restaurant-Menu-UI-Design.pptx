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embeddedFontLst>
    <p:embeddedFont>
      <p:font typeface="Montserrat Bold" panose="020B0604020202020204" charset="0"/>
      <p:regular r:id="rId10"/>
    </p:embeddedFont>
    <p:embeddedFont>
      <p:font typeface="Source Sans 3" panose="020B0604020202020204" charset="0"/>
      <p:regular r:id="rId1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15964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Relationship Id="rId9" Type="http://schemas.openxmlformats.org/officeDocument/2006/relationships/image" Target="../media/image1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68874" y="1501080"/>
            <a:ext cx="1468636" cy="277564"/>
          </a:xfrm>
          <a:prstGeom prst="roundRect">
            <a:avLst>
              <a:gd name="adj" fmla="val 6670"/>
            </a:avLst>
          </a:prstGeom>
          <a:solidFill>
            <a:srgbClr val="E4E4E7"/>
          </a:solidFill>
          <a:ln/>
        </p:spPr>
      </p:sp>
      <p:sp>
        <p:nvSpPr>
          <p:cNvPr id="4" name="Text 1"/>
          <p:cNvSpPr/>
          <p:nvPr/>
        </p:nvSpPr>
        <p:spPr>
          <a:xfrm>
            <a:off x="4061371" y="1547292"/>
            <a:ext cx="1740843" cy="185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INTERNSHIP · PROJECT 3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3968874" y="1840334"/>
            <a:ext cx="4635252" cy="8765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Restaurant Menu UI Design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3968874" y="2948285"/>
            <a:ext cx="4635252" cy="694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UI/UX internship project focused on redesigning the restaurant menu experience — making it intuitive, visually engaging, and conversion-friendly.</a:t>
            </a:r>
            <a:endParaRPr lang="en-US" sz="12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A5FCC2D-150A-D991-0A8D-3C7E920A9019}"/>
              </a:ext>
            </a:extLst>
          </p:cNvPr>
          <p:cNvSpPr/>
          <p:nvPr/>
        </p:nvSpPr>
        <p:spPr>
          <a:xfrm>
            <a:off x="7990450" y="4797083"/>
            <a:ext cx="1153550" cy="2815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2380" y="413891"/>
            <a:ext cx="3611687" cy="383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Problem Statement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72380" y="974452"/>
            <a:ext cx="4770239" cy="379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Many restaurant menus fail to guide customers effectively, leading to confusion and lost orders. This project addresses four core challenges: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472380" y="1486793"/>
            <a:ext cx="4770239" cy="722114"/>
          </a:xfrm>
          <a:prstGeom prst="roundRect">
            <a:avLst>
              <a:gd name="adj" fmla="val 2804"/>
            </a:avLst>
          </a:prstGeom>
          <a:solidFill>
            <a:srgbClr val="F2EEEE"/>
          </a:solidFill>
          <a:ln/>
        </p:spPr>
      </p:sp>
      <p:sp>
        <p:nvSpPr>
          <p:cNvPr id="6" name="Text 3"/>
          <p:cNvSpPr/>
          <p:nvPr/>
        </p:nvSpPr>
        <p:spPr>
          <a:xfrm>
            <a:off x="607293" y="1621706"/>
            <a:ext cx="1567309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Difficult Navigation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07293" y="1884238"/>
            <a:ext cx="4500414" cy="189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Customers struggle to find what they're looking for quickly.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72380" y="2327002"/>
            <a:ext cx="4770239" cy="722114"/>
          </a:xfrm>
          <a:prstGeom prst="roundRect">
            <a:avLst>
              <a:gd name="adj" fmla="val 2804"/>
            </a:avLst>
          </a:prstGeom>
          <a:solidFill>
            <a:srgbClr val="F2EEEE"/>
          </a:solidFill>
          <a:ln/>
        </p:spPr>
      </p:sp>
      <p:sp>
        <p:nvSpPr>
          <p:cNvPr id="9" name="Text 6"/>
          <p:cNvSpPr/>
          <p:nvPr/>
        </p:nvSpPr>
        <p:spPr>
          <a:xfrm>
            <a:off x="607293" y="2461915"/>
            <a:ext cx="1602879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Poor Categorization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07293" y="2724448"/>
            <a:ext cx="4500414" cy="189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Food items lack logical grouping, causing decision fatigue.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72380" y="3167211"/>
            <a:ext cx="4770239" cy="722114"/>
          </a:xfrm>
          <a:prstGeom prst="roundRect">
            <a:avLst>
              <a:gd name="adj" fmla="val 2804"/>
            </a:avLst>
          </a:prstGeom>
          <a:solidFill>
            <a:srgbClr val="F2EEEE"/>
          </a:solidFill>
          <a:ln/>
        </p:spPr>
      </p:sp>
      <p:sp>
        <p:nvSpPr>
          <p:cNvPr id="12" name="Text 9"/>
          <p:cNvSpPr/>
          <p:nvPr/>
        </p:nvSpPr>
        <p:spPr>
          <a:xfrm>
            <a:off x="607293" y="3302124"/>
            <a:ext cx="1533897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Confusing Layouts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07293" y="3564657"/>
            <a:ext cx="4500414" cy="189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Cluttered screens overwhelm users and reduce engagement.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72380" y="4007421"/>
            <a:ext cx="4770239" cy="722114"/>
          </a:xfrm>
          <a:prstGeom prst="roundRect">
            <a:avLst>
              <a:gd name="adj" fmla="val 2804"/>
            </a:avLst>
          </a:prstGeom>
          <a:solidFill>
            <a:srgbClr val="F2EEEE"/>
          </a:solidFill>
          <a:ln/>
        </p:spPr>
      </p:sp>
      <p:sp>
        <p:nvSpPr>
          <p:cNvPr id="15" name="Text 12"/>
          <p:cNvSpPr/>
          <p:nvPr/>
        </p:nvSpPr>
        <p:spPr>
          <a:xfrm>
            <a:off x="607293" y="4142333"/>
            <a:ext cx="1533897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Low Engagement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07293" y="4404866"/>
            <a:ext cx="4500414" cy="189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Without visual appeal, customers are less likely to explore and order.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9570" y="399380"/>
            <a:ext cx="3415457" cy="369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User Research</a:t>
            </a:r>
            <a:endParaRPr lang="en-US" sz="2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570" y="1057275"/>
            <a:ext cx="3563243" cy="356324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07894" y="1397868"/>
            <a:ext cx="1936328" cy="184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Target Users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007894" y="1692548"/>
            <a:ext cx="2651224" cy="616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Restaurant customers (dine-in &amp; takeout)</a:t>
            </a:r>
            <a:endParaRPr lang="en-US" sz="1000" dirty="0"/>
          </a:p>
          <a:p>
            <a:pPr marL="342900" indent="-342900" algn="l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Online food ordering users</a:t>
            </a:r>
            <a:endParaRPr lang="en-US" sz="1000" dirty="0"/>
          </a:p>
          <a:p>
            <a:pPr marL="342900" indent="-342900" algn="l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First-time visitors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007894" y="2418904"/>
            <a:ext cx="1936328" cy="184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What Users Need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007894" y="2713583"/>
            <a:ext cx="2651224" cy="616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342900" indent="-342900" algn="l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Easy navigation with clear categories</a:t>
            </a:r>
            <a:endParaRPr lang="en-US" sz="1000" dirty="0"/>
          </a:p>
          <a:p>
            <a:pPr marL="342900" indent="-342900" algn="l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Quick food discovery with attractive images</a:t>
            </a:r>
            <a:endParaRPr lang="en-US" sz="1000" dirty="0"/>
          </a:p>
          <a:p>
            <a:pPr marL="342900" indent="-342900" algn="l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Transparent, readable pricing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007894" y="3439939"/>
            <a:ext cx="1936328" cy="184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Pain Points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007894" y="3734619"/>
            <a:ext cx="2651224" cy="616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Cluttered, hard-to-scan menus</a:t>
            </a:r>
            <a:endParaRPr lang="en-US" sz="1000" dirty="0"/>
          </a:p>
          <a:p>
            <a:pPr marL="342900" indent="-342900" algn="l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Items difficult to locate</a:t>
            </a:r>
            <a:endParaRPr lang="en-US" sz="1000" dirty="0"/>
          </a:p>
          <a:p>
            <a:pPr marL="342900" indent="-342900" algn="l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Weak or missing categorization</a:t>
            </a:r>
            <a:endParaRPr lang="en-US" sz="10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5E746B0-B23D-4035-300E-ECD7704D739D}"/>
              </a:ext>
            </a:extLst>
          </p:cNvPr>
          <p:cNvSpPr/>
          <p:nvPr/>
        </p:nvSpPr>
        <p:spPr>
          <a:xfrm>
            <a:off x="7990450" y="4811151"/>
            <a:ext cx="1153550" cy="2815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6384" y="357932"/>
            <a:ext cx="3892153" cy="349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Low-Fidelity Wireframe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716384" y="903015"/>
            <a:ext cx="8168432" cy="165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Wireframes were created first to establish a clear content hierarchy and user flow before investing in visual design.</a:t>
            </a:r>
            <a:endParaRPr lang="en-US" sz="9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384" y="1185902"/>
            <a:ext cx="7711232" cy="333077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56512" y="3659398"/>
            <a:ext cx="1144963" cy="189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Search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2556512" y="3908248"/>
            <a:ext cx="1144963" cy="2995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10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Quick dish and restaurant lookup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496483" y="3659398"/>
            <a:ext cx="1144963" cy="189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Featured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496483" y="3908248"/>
            <a:ext cx="1144963" cy="2995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10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Highlight popular dishes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090176" y="1479415"/>
            <a:ext cx="1144963" cy="189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Header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1090176" y="1728265"/>
            <a:ext cx="1144963" cy="2995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10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Logo and primary links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919142" y="1479415"/>
            <a:ext cx="1144963" cy="189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Food Grid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919142" y="1728265"/>
            <a:ext cx="1144963" cy="2995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10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Cards with images and info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044744" y="1479415"/>
            <a:ext cx="1144963" cy="189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Categories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4044744" y="1728265"/>
            <a:ext cx="1144963" cy="2995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10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Browse by cuisine or meal type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716384" y="4619848"/>
            <a:ext cx="8168432" cy="165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This structure ensures users can search, browse categories, discover featured items, and place orders in a seamless top-to-bottom flow.</a:t>
            </a:r>
            <a:endParaRPr lang="en-US" sz="95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A11BA8B-C313-3C1D-6C75-D5F1BB48D5FE}"/>
              </a:ext>
            </a:extLst>
          </p:cNvPr>
          <p:cNvSpPr/>
          <p:nvPr/>
        </p:nvSpPr>
        <p:spPr>
          <a:xfrm>
            <a:off x="7990450" y="4797083"/>
            <a:ext cx="1153550" cy="2815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18272" y="392609"/>
            <a:ext cx="3634606" cy="3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Final UI Design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3918272" y="979736"/>
            <a:ext cx="4736455" cy="5996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high-fidelity design brings the wireframe to life with modern aesthetics, warm food-inspired colors, and a layout optimized for both discovery and ordering.</a:t>
            </a:r>
            <a:endParaRPr lang="en-US" sz="11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99222" y="1721867"/>
            <a:ext cx="4755505" cy="79198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134222" y="1880667"/>
            <a:ext cx="1588666" cy="198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Readability First</a:t>
            </a:r>
            <a:endParaRPr lang="en-US" sz="1250" dirty="0"/>
          </a:p>
        </p:txBody>
      </p:sp>
      <p:sp>
        <p:nvSpPr>
          <p:cNvPr id="7" name="Text 3"/>
          <p:cNvSpPr/>
          <p:nvPr/>
        </p:nvSpPr>
        <p:spPr>
          <a:xfrm>
            <a:off x="4134222" y="2155180"/>
            <a:ext cx="4361706" cy="199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Clear typography and generous spacing make every dish easy to scan.</a:t>
            </a:r>
            <a:endParaRPr lang="en-US" sz="11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99222" y="2640509"/>
            <a:ext cx="4755505" cy="99186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134222" y="2799308"/>
            <a:ext cx="1588666" cy="198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Food Discovery</a:t>
            </a:r>
            <a:endParaRPr lang="en-US" sz="1250" dirty="0"/>
          </a:p>
        </p:txBody>
      </p:sp>
      <p:sp>
        <p:nvSpPr>
          <p:cNvPr id="10" name="Text 5"/>
          <p:cNvSpPr/>
          <p:nvPr/>
        </p:nvSpPr>
        <p:spPr>
          <a:xfrm>
            <a:off x="4134222" y="3073822"/>
            <a:ext cx="4361706" cy="399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Featured dishes and category chips guide users toward popular and new items.</a:t>
            </a:r>
            <a:endParaRPr lang="en-US" sz="11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99222" y="3759026"/>
            <a:ext cx="4755505" cy="99186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134222" y="3917826"/>
            <a:ext cx="1588666" cy="198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Visual Appeal</a:t>
            </a:r>
            <a:endParaRPr lang="en-US" sz="1250" dirty="0"/>
          </a:p>
        </p:txBody>
      </p:sp>
      <p:sp>
        <p:nvSpPr>
          <p:cNvPr id="13" name="Text 7"/>
          <p:cNvSpPr/>
          <p:nvPr/>
        </p:nvSpPr>
        <p:spPr>
          <a:xfrm>
            <a:off x="4134222" y="4192339"/>
            <a:ext cx="4361706" cy="399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High-quality food imagery and warm accent colors stimulate appetite and trust.</a:t>
            </a:r>
            <a:endParaRPr lang="en-US" sz="11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41640C1-7DBD-B50A-9232-43772D05ED92}"/>
              </a:ext>
            </a:extLst>
          </p:cNvPr>
          <p:cNvSpPr/>
          <p:nvPr/>
        </p:nvSpPr>
        <p:spPr>
          <a:xfrm>
            <a:off x="7990450" y="4797083"/>
            <a:ext cx="1153550" cy="2815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9272" y="424755"/>
            <a:ext cx="3634606" cy="3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Key Features</a:t>
            </a:r>
            <a:endParaRPr lang="en-US" sz="2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9272" y="1075283"/>
            <a:ext cx="279574" cy="27957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89272" y="1513210"/>
            <a:ext cx="1588666" cy="198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Search Food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489272" y="1787723"/>
            <a:ext cx="2616250" cy="199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Instant search to find any dish by name.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63875" y="1075283"/>
            <a:ext cx="279574" cy="27957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63875" y="1513210"/>
            <a:ext cx="1709663" cy="198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Category Navigation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3263875" y="1787723"/>
            <a:ext cx="2616250" cy="199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Scrollable chips for quick category filtering.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38478" y="1075283"/>
            <a:ext cx="279574" cy="27957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38478" y="1513210"/>
            <a:ext cx="1588666" cy="198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Featured Dishes</a:t>
            </a:r>
            <a:endParaRPr lang="en-US" sz="1250" dirty="0"/>
          </a:p>
        </p:txBody>
      </p:sp>
      <p:sp>
        <p:nvSpPr>
          <p:cNvPr id="11" name="Text 6"/>
          <p:cNvSpPr/>
          <p:nvPr/>
        </p:nvSpPr>
        <p:spPr>
          <a:xfrm>
            <a:off x="6038478" y="1787723"/>
            <a:ext cx="2616250" cy="399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Highlighted cards showcasing popular or new items.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9272" y="2440856"/>
            <a:ext cx="279574" cy="27957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89272" y="2878782"/>
            <a:ext cx="1588666" cy="198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Ratings &amp; Reviews</a:t>
            </a:r>
            <a:endParaRPr lang="en-US" sz="1250" dirty="0"/>
          </a:p>
        </p:txBody>
      </p:sp>
      <p:sp>
        <p:nvSpPr>
          <p:cNvPr id="14" name="Text 8"/>
          <p:cNvSpPr/>
          <p:nvPr/>
        </p:nvSpPr>
        <p:spPr>
          <a:xfrm>
            <a:off x="489272" y="3153296"/>
            <a:ext cx="2616250" cy="399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Star ratings build trust and aid decision-making.</a:t>
            </a:r>
            <a:endParaRPr lang="en-US" sz="11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63875" y="2440856"/>
            <a:ext cx="279574" cy="279574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263875" y="2878782"/>
            <a:ext cx="1588666" cy="198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Add to Cart</a:t>
            </a:r>
            <a:endParaRPr lang="en-US" sz="1250" dirty="0"/>
          </a:p>
        </p:txBody>
      </p:sp>
      <p:sp>
        <p:nvSpPr>
          <p:cNvPr id="17" name="Text 10"/>
          <p:cNvSpPr/>
          <p:nvPr/>
        </p:nvSpPr>
        <p:spPr>
          <a:xfrm>
            <a:off x="3263875" y="3153296"/>
            <a:ext cx="2616250" cy="199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One-tap ordering with clear visual feedback.</a:t>
            </a:r>
            <a:endParaRPr lang="en-US" sz="11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38478" y="2440856"/>
            <a:ext cx="279574" cy="279574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038478" y="2878782"/>
            <a:ext cx="1686520" cy="198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Promotional Banner</a:t>
            </a:r>
            <a:endParaRPr lang="en-US" sz="1250" dirty="0"/>
          </a:p>
        </p:txBody>
      </p:sp>
      <p:sp>
        <p:nvSpPr>
          <p:cNvPr id="20" name="Text 12"/>
          <p:cNvSpPr/>
          <p:nvPr/>
        </p:nvSpPr>
        <p:spPr>
          <a:xfrm>
            <a:off x="6038478" y="3153296"/>
            <a:ext cx="2616250" cy="399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Strategic placement for offers and special deals.</a:t>
            </a:r>
            <a:endParaRPr lang="en-US" sz="110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89272" y="3806428"/>
            <a:ext cx="279574" cy="279574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489272" y="4244355"/>
            <a:ext cx="1588666" cy="198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Responsive Layout</a:t>
            </a:r>
            <a:endParaRPr lang="en-US" sz="1250" dirty="0"/>
          </a:p>
        </p:txBody>
      </p:sp>
      <p:sp>
        <p:nvSpPr>
          <p:cNvPr id="23" name="Text 14"/>
          <p:cNvSpPr/>
          <p:nvPr/>
        </p:nvSpPr>
        <p:spPr>
          <a:xfrm>
            <a:off x="489272" y="4518868"/>
            <a:ext cx="2616250" cy="199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Adapts seamlessly across all screen sizes.</a:t>
            </a:r>
            <a:endParaRPr lang="en-US" sz="11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A708A5E-AAEF-E810-5C8B-DF3D94E8E026}"/>
              </a:ext>
            </a:extLst>
          </p:cNvPr>
          <p:cNvSpPr/>
          <p:nvPr/>
        </p:nvSpPr>
        <p:spPr>
          <a:xfrm>
            <a:off x="7990450" y="4804117"/>
            <a:ext cx="1153550" cy="2815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779" y="352871"/>
            <a:ext cx="4591422" cy="356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Design System &amp; Outcomes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779" y="963439"/>
            <a:ext cx="1881560" cy="177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Color Palette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779" y="1182142"/>
            <a:ext cx="1881560" cy="177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Typography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779" y="1461939"/>
            <a:ext cx="3778374" cy="3406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5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Poppins Bold</a:t>
            </a:r>
            <a:r>
              <a:rPr lang="en-US" sz="9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Headings &amp; CTAs</a:t>
            </a:r>
            <a:endParaRPr lang="en-US" sz="95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95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Poppins Regular</a:t>
            </a:r>
            <a:r>
              <a:rPr lang="en-US" sz="9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Body text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40779" y="1904405"/>
            <a:ext cx="1881560" cy="177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Core Components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779" y="2184202"/>
            <a:ext cx="4235574" cy="170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Search Bar · Category Chips · Food Cards · Buttons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729609" y="963439"/>
            <a:ext cx="1881560" cy="177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Project Outcomes</a:t>
            </a:r>
            <a:endParaRPr lang="en-US" sz="11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76564" y="1255923"/>
            <a:ext cx="187970" cy="18797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136877" y="1255961"/>
            <a:ext cx="3371106" cy="170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5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Easy Navigation</a:t>
            </a:r>
            <a:r>
              <a:rPr lang="en-US" sz="9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Clear categories reduce friction</a:t>
            </a:r>
            <a:endParaRPr lang="en-US" sz="9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76564" y="1835534"/>
            <a:ext cx="187970" cy="18797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36877" y="1835572"/>
            <a:ext cx="3371106" cy="170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5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Better UX</a:t>
            </a:r>
            <a:r>
              <a:rPr lang="en-US" sz="9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Intuitive flow from browse to order</a:t>
            </a:r>
            <a:endParaRPr lang="en-US" sz="9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76564" y="2415146"/>
            <a:ext cx="187970" cy="18797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136877" y="2415183"/>
            <a:ext cx="3371106" cy="170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5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Clear Categorization</a:t>
            </a:r>
            <a:r>
              <a:rPr lang="en-US" sz="9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Logical grouping improves discovery</a:t>
            </a:r>
            <a:endParaRPr lang="en-US" sz="9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76564" y="2994757"/>
            <a:ext cx="187970" cy="18797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136877" y="2994794"/>
            <a:ext cx="3371106" cy="3406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5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Attractive Interface</a:t>
            </a:r>
            <a:r>
              <a:rPr lang="en-US" sz="9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Warm colors and imagery drive engagement</a:t>
            </a:r>
            <a:endParaRPr lang="en-US" sz="950" dirty="0"/>
          </a:p>
        </p:txBody>
      </p:sp>
      <p:sp>
        <p:nvSpPr>
          <p:cNvPr id="20" name="Shape 13"/>
          <p:cNvSpPr/>
          <p:nvPr/>
        </p:nvSpPr>
        <p:spPr>
          <a:xfrm>
            <a:off x="640779" y="4130501"/>
            <a:ext cx="1889224" cy="660053"/>
          </a:xfrm>
          <a:prstGeom prst="roundRect">
            <a:avLst>
              <a:gd name="adj" fmla="val 2849"/>
            </a:avLst>
          </a:prstGeom>
          <a:solidFill>
            <a:srgbClr val="F2EEEE"/>
          </a:solidFill>
          <a:ln/>
        </p:spPr>
      </p:sp>
      <p:sp>
        <p:nvSpPr>
          <p:cNvPr id="21" name="Text 14"/>
          <p:cNvSpPr/>
          <p:nvPr/>
        </p:nvSpPr>
        <p:spPr>
          <a:xfrm>
            <a:off x="766093" y="4255815"/>
            <a:ext cx="1424360" cy="177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Orange</a:t>
            </a:r>
            <a:endParaRPr lang="en-US" sz="1100" dirty="0"/>
          </a:p>
        </p:txBody>
      </p:sp>
      <p:sp>
        <p:nvSpPr>
          <p:cNvPr id="22" name="Text 15"/>
          <p:cNvSpPr/>
          <p:nvPr/>
        </p:nvSpPr>
        <p:spPr>
          <a:xfrm>
            <a:off x="766093" y="4494907"/>
            <a:ext cx="1638598" cy="170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#FF6B35 — Primary CTA</a:t>
            </a:r>
            <a:endParaRPr lang="en-US" sz="950" dirty="0"/>
          </a:p>
        </p:txBody>
      </p:sp>
      <p:sp>
        <p:nvSpPr>
          <p:cNvPr id="23" name="Shape 16"/>
          <p:cNvSpPr/>
          <p:nvPr/>
        </p:nvSpPr>
        <p:spPr>
          <a:xfrm>
            <a:off x="2631802" y="4130501"/>
            <a:ext cx="1889299" cy="660053"/>
          </a:xfrm>
          <a:prstGeom prst="roundRect">
            <a:avLst>
              <a:gd name="adj" fmla="val 2849"/>
            </a:avLst>
          </a:prstGeom>
          <a:solidFill>
            <a:srgbClr val="F2EEEE"/>
          </a:solidFill>
          <a:ln/>
        </p:spPr>
      </p:sp>
      <p:sp>
        <p:nvSpPr>
          <p:cNvPr id="24" name="Text 17"/>
          <p:cNvSpPr/>
          <p:nvPr/>
        </p:nvSpPr>
        <p:spPr>
          <a:xfrm>
            <a:off x="2757115" y="4255815"/>
            <a:ext cx="1424360" cy="177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Yellow</a:t>
            </a:r>
            <a:endParaRPr lang="en-US" sz="1100" dirty="0"/>
          </a:p>
        </p:txBody>
      </p:sp>
      <p:sp>
        <p:nvSpPr>
          <p:cNvPr id="25" name="Text 18"/>
          <p:cNvSpPr/>
          <p:nvPr/>
        </p:nvSpPr>
        <p:spPr>
          <a:xfrm>
            <a:off x="2757115" y="4494907"/>
            <a:ext cx="1638672" cy="170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#FFC857 — Highlights</a:t>
            </a:r>
            <a:endParaRPr lang="en-US" sz="950" dirty="0"/>
          </a:p>
        </p:txBody>
      </p:sp>
      <p:sp>
        <p:nvSpPr>
          <p:cNvPr id="26" name="Shape 19"/>
          <p:cNvSpPr/>
          <p:nvPr/>
        </p:nvSpPr>
        <p:spPr>
          <a:xfrm>
            <a:off x="4622899" y="4130501"/>
            <a:ext cx="1889224" cy="660053"/>
          </a:xfrm>
          <a:prstGeom prst="roundRect">
            <a:avLst>
              <a:gd name="adj" fmla="val 2849"/>
            </a:avLst>
          </a:prstGeom>
          <a:solidFill>
            <a:srgbClr val="F2EEEE"/>
          </a:solidFill>
          <a:ln/>
        </p:spPr>
      </p:sp>
      <p:sp>
        <p:nvSpPr>
          <p:cNvPr id="27" name="Text 20"/>
          <p:cNvSpPr/>
          <p:nvPr/>
        </p:nvSpPr>
        <p:spPr>
          <a:xfrm>
            <a:off x="4748213" y="4255815"/>
            <a:ext cx="1424360" cy="177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White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4748213" y="4494907"/>
            <a:ext cx="1638598" cy="170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#FFFFFF — Background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6613922" y="4130501"/>
            <a:ext cx="1889299" cy="660053"/>
          </a:xfrm>
          <a:prstGeom prst="roundRect">
            <a:avLst>
              <a:gd name="adj" fmla="val 2849"/>
            </a:avLst>
          </a:prstGeom>
          <a:solidFill>
            <a:srgbClr val="F2EEEE"/>
          </a:solidFill>
          <a:ln/>
        </p:spPr>
      </p:sp>
      <p:sp>
        <p:nvSpPr>
          <p:cNvPr id="30" name="Text 23"/>
          <p:cNvSpPr/>
          <p:nvPr/>
        </p:nvSpPr>
        <p:spPr>
          <a:xfrm>
            <a:off x="6739235" y="4255815"/>
            <a:ext cx="1424360" cy="177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Dark Gray</a:t>
            </a:r>
            <a:endParaRPr lang="en-US" sz="1100" dirty="0"/>
          </a:p>
        </p:txBody>
      </p:sp>
      <p:sp>
        <p:nvSpPr>
          <p:cNvPr id="31" name="Text 24"/>
          <p:cNvSpPr/>
          <p:nvPr/>
        </p:nvSpPr>
        <p:spPr>
          <a:xfrm>
            <a:off x="6739235" y="4494907"/>
            <a:ext cx="1638672" cy="170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#1F2937 — Text</a:t>
            </a:r>
            <a:endParaRPr lang="en-US" sz="95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BDB36A4-12C8-DC91-A207-50ABEA80B6FA}"/>
              </a:ext>
            </a:extLst>
          </p:cNvPr>
          <p:cNvSpPr/>
          <p:nvPr/>
        </p:nvSpPr>
        <p:spPr>
          <a:xfrm>
            <a:off x="7990450" y="4797083"/>
            <a:ext cx="1153550" cy="2815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465</Words>
  <Application>Microsoft Office PowerPoint</Application>
  <PresentationFormat>On-screen Show (16:9)</PresentationFormat>
  <Paragraphs>89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Source Sans 3</vt:lpstr>
      <vt:lpstr>Montserrat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Khushi Kundariya</cp:lastModifiedBy>
  <cp:revision>4</cp:revision>
  <dcterms:created xsi:type="dcterms:W3CDTF">2026-06-10T10:10:51Z</dcterms:created>
  <dcterms:modified xsi:type="dcterms:W3CDTF">2026-06-10T10:15:05Z</dcterms:modified>
</cp:coreProperties>
</file>